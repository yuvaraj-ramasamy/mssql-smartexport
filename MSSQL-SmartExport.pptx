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42" r:id="rId5"/>
    <p:sldId id="359" r:id="rId6"/>
    <p:sldId id="373" r:id="rId7"/>
    <p:sldId id="375" r:id="rId8"/>
    <p:sldId id="365" r:id="rId9"/>
    <p:sldId id="376" r:id="rId10"/>
    <p:sldId id="374" r:id="rId11"/>
    <p:sldId id="377" r:id="rId12"/>
    <p:sldId id="382" r:id="rId13"/>
    <p:sldId id="378" r:id="rId14"/>
    <p:sldId id="379" r:id="rId15"/>
    <p:sldId id="380" r:id="rId16"/>
    <p:sldId id="3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C5B4AD-9BB8-487C-BB7C-30E88970EB67}" v="4" dt="2026-02-27T20:19:00.330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, Yuvaraj (Cognizant)" userId="f70a6316-b1eb-472a-aeff-1b348a6c2086" providerId="ADAL" clId="{ECDAE108-5E63-4FC2-B42A-9C40C9CC0F89}"/>
    <pc:docChg chg="undo custSel modSld">
      <pc:chgData name="R, Yuvaraj (Cognizant)" userId="f70a6316-b1eb-472a-aeff-1b348a6c2086" providerId="ADAL" clId="{ECDAE108-5E63-4FC2-B42A-9C40C9CC0F89}" dt="2026-02-27T20:20:14.698" v="65" actId="1076"/>
      <pc:docMkLst>
        <pc:docMk/>
      </pc:docMkLst>
      <pc:sldChg chg="addSp delSp modSp mod">
        <pc:chgData name="R, Yuvaraj (Cognizant)" userId="f70a6316-b1eb-472a-aeff-1b348a6c2086" providerId="ADAL" clId="{ECDAE108-5E63-4FC2-B42A-9C40C9CC0F89}" dt="2026-02-27T20:20:14.698" v="65" actId="1076"/>
        <pc:sldMkLst>
          <pc:docMk/>
          <pc:sldMk cId="2395464980" sldId="372"/>
        </pc:sldMkLst>
        <pc:spChg chg="add del mod">
          <ac:chgData name="R, Yuvaraj (Cognizant)" userId="f70a6316-b1eb-472a-aeff-1b348a6c2086" providerId="ADAL" clId="{ECDAE108-5E63-4FC2-B42A-9C40C9CC0F89}" dt="2026-02-27T20:15:40.588" v="37" actId="478"/>
          <ac:spMkLst>
            <pc:docMk/>
            <pc:sldMk cId="2395464980" sldId="372"/>
            <ac:spMk id="4" creationId="{25B23E70-5841-8378-17EC-1F027EB6BEF5}"/>
          </ac:spMkLst>
        </pc:spChg>
        <pc:spChg chg="add mod">
          <ac:chgData name="R, Yuvaraj (Cognizant)" userId="f70a6316-b1eb-472a-aeff-1b348a6c2086" providerId="ADAL" clId="{ECDAE108-5E63-4FC2-B42A-9C40C9CC0F89}" dt="2026-02-27T20:20:14.698" v="65" actId="1076"/>
          <ac:spMkLst>
            <pc:docMk/>
            <pc:sldMk cId="2395464980" sldId="372"/>
            <ac:spMk id="6" creationId="{AF5E5EF3-F8EE-B092-D4D1-3B53DF7530D7}"/>
          </ac:spMkLst>
        </pc:spChg>
        <pc:cxnChg chg="add mod">
          <ac:chgData name="R, Yuvaraj (Cognizant)" userId="f70a6316-b1eb-472a-aeff-1b348a6c2086" providerId="ADAL" clId="{ECDAE108-5E63-4FC2-B42A-9C40C9CC0F89}" dt="2026-02-27T20:20:06.452" v="64" actId="1076"/>
          <ac:cxnSpMkLst>
            <pc:docMk/>
            <pc:sldMk cId="2395464980" sldId="372"/>
            <ac:cxnSpMk id="8" creationId="{E5AE868E-B879-A52A-306D-02551730D6D7}"/>
          </ac:cxnSpMkLst>
        </pc:cxnChg>
        <pc:cxnChg chg="add mod">
          <ac:chgData name="R, Yuvaraj (Cognizant)" userId="f70a6316-b1eb-472a-aeff-1b348a6c2086" providerId="ADAL" clId="{ECDAE108-5E63-4FC2-B42A-9C40C9CC0F89}" dt="2026-02-27T20:19:45.543" v="61" actId="14100"/>
          <ac:cxnSpMkLst>
            <pc:docMk/>
            <pc:sldMk cId="2395464980" sldId="372"/>
            <ac:cxnSpMk id="13" creationId="{3AD1D838-207F-676E-1BE0-1F0DA17C6CCB}"/>
          </ac:cxnSpMkLst>
        </pc:cxnChg>
        <pc:cxnChg chg="add mod">
          <ac:chgData name="R, Yuvaraj (Cognizant)" userId="f70a6316-b1eb-472a-aeff-1b348a6c2086" providerId="ADAL" clId="{ECDAE108-5E63-4FC2-B42A-9C40C9CC0F89}" dt="2026-02-27T20:19:28.462" v="59" actId="14100"/>
          <ac:cxnSpMkLst>
            <pc:docMk/>
            <pc:sldMk cId="2395464980" sldId="372"/>
            <ac:cxnSpMk id="16" creationId="{D92A098C-F8ED-C2F9-34A9-C5AA3D052375}"/>
          </ac:cxnSpMkLst>
        </pc:cxnChg>
      </pc:sldChg>
      <pc:sldChg chg="modSp mod">
        <pc:chgData name="R, Yuvaraj (Cognizant)" userId="f70a6316-b1eb-472a-aeff-1b348a6c2086" providerId="ADAL" clId="{ECDAE108-5E63-4FC2-B42A-9C40C9CC0F89}" dt="2026-02-27T20:11:35.433" v="1" actId="20577"/>
        <pc:sldMkLst>
          <pc:docMk/>
          <pc:sldMk cId="3145168866" sldId="382"/>
        </pc:sldMkLst>
        <pc:spChg chg="mod">
          <ac:chgData name="R, Yuvaraj (Cognizant)" userId="f70a6316-b1eb-472a-aeff-1b348a6c2086" providerId="ADAL" clId="{ECDAE108-5E63-4FC2-B42A-9C40C9CC0F89}" dt="2026-02-27T20:11:35.433" v="1" actId="20577"/>
          <ac:spMkLst>
            <pc:docMk/>
            <pc:sldMk cId="3145168866" sldId="382"/>
            <ac:spMk id="2" creationId="{E117F7C5-CBA2-9823-0CBA-5BD77399804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772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transition spd="med">
    <p:fade/>
    <p:sndAc>
      <p:stSnd>
        <p:snd r:embed="rId1" name="type.wav"/>
      </p:stSnd>
    </p:sndAc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transition spd="med">
    <p:fade/>
    <p:sndAc>
      <p:stSnd>
        <p:snd r:embed="rId16" name="type.wav"/>
      </p:stSnd>
    </p:sndAc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902" y="3996815"/>
            <a:ext cx="8136195" cy="968476"/>
          </a:xfrm>
        </p:spPr>
        <p:txBody>
          <a:bodyPr anchor="b"/>
          <a:lstStyle/>
          <a:p>
            <a:r>
              <a:rPr lang="en-US" dirty="0"/>
              <a:t>SSMS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611943"/>
            <a:ext cx="12191997" cy="1384872"/>
          </a:xfrm>
        </p:spPr>
        <p:txBody>
          <a:bodyPr/>
          <a:lstStyle/>
          <a:p>
            <a:r>
              <a:rPr lang="en-US" dirty="0"/>
              <a:t>Automating Data Export and Formatting in SQL Server Management Studio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2940531"/>
            <a:ext cx="4466504" cy="3405187"/>
          </a:xfrm>
        </p:spPr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Problem statement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Solution overview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Code Explanation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Detailed Code Walkthrough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Benefits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Conclusion</a:t>
            </a:r>
          </a:p>
        </p:txBody>
      </p:sp>
      <p:pic>
        <p:nvPicPr>
          <p:cNvPr id="5" name="Picture 4" descr="A group of people standing around a presentation&#10;&#10;Description automatically generated">
            <a:extLst>
              <a:ext uri="{FF2B5EF4-FFF2-40B4-BE49-F238E27FC236}">
                <a16:creationId xmlns:a16="http://schemas.microsoft.com/office/drawing/2014/main" id="{EAC99F72-9566-CE06-47A8-CE3CB4C9A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259" y="1333558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MAIN Concerns of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Challenge: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Manually exporting and formatting data from SQL Server can 	be time-consuming and prone to errors.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Impact: </a:t>
            </a:r>
          </a:p>
          <a:p>
            <a:pPr marL="0" indent="0">
              <a:buNone/>
            </a:pPr>
            <a:r>
              <a:rPr lang="en-US" dirty="0"/>
              <a:t>	Inefficiencies in data handling can lead to delays and 	inaccuracies in reporting.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dirty="0"/>
              <a:t>Solution Overview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/>
              <a:t>What can we do?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9209398" cy="352839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Objective: </a:t>
            </a:r>
          </a:p>
          <a:p>
            <a:r>
              <a:rPr lang="en-US" dirty="0"/>
              <a:t>	Automate the process of exporting data from SQL Server to Excel and apply 	formatting to improve readability.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Approach: </a:t>
            </a:r>
          </a:p>
          <a:p>
            <a:r>
              <a:rPr lang="en-US" dirty="0"/>
              <a:t>	Use Python with libraries to streamline the workflow.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What did we do!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Code Explanation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7923C291-D9F0-511E-08D3-073972E863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6969" r="696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Code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027280" y="2453349"/>
            <a:ext cx="9929788" cy="3723753"/>
          </a:xfrm>
        </p:spPr>
        <p:txBody>
          <a:bodyPr/>
          <a:lstStyle/>
          <a:p>
            <a:r>
              <a:rPr lang="en-US" dirty="0"/>
              <a:t>Establish a connection to the SQL Server using </a:t>
            </a:r>
            <a:r>
              <a:rPr lang="en-US" dirty="0" err="1"/>
              <a:t>SQLAlchemy</a:t>
            </a:r>
            <a:r>
              <a:rPr lang="en-US" dirty="0"/>
              <a:t>.</a:t>
            </a:r>
          </a:p>
          <a:p>
            <a:r>
              <a:rPr lang="en-US" dirty="0"/>
              <a:t>Execute a SQL query to fetch the required data.</a:t>
            </a:r>
          </a:p>
          <a:p>
            <a:r>
              <a:rPr lang="en-US" dirty="0"/>
              <a:t>Export the data to an Excel file using pandas.</a:t>
            </a:r>
          </a:p>
          <a:p>
            <a:r>
              <a:rPr lang="en-US" dirty="0"/>
              <a:t>Load the Excel file and apply formatting using </a:t>
            </a:r>
            <a:r>
              <a:rPr lang="en-US" dirty="0" err="1"/>
              <a:t>openpyxl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Detailed Code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Walkthrough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168866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noProof="0" dirty="0"/>
              <a:t>Code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6" y="3104277"/>
            <a:ext cx="4850089" cy="3022201"/>
          </a:xfrm>
        </p:spPr>
        <p:txBody>
          <a:bodyPr/>
          <a:lstStyle/>
          <a:p>
            <a:r>
              <a:rPr lang="en-US" b="1" dirty="0"/>
              <a:t>Connection String: </a:t>
            </a:r>
            <a:r>
              <a:rPr lang="en-US" dirty="0"/>
              <a:t>Define the connection string for SQL Server.</a:t>
            </a:r>
          </a:p>
          <a:p>
            <a:r>
              <a:rPr lang="en-US" b="1" dirty="0"/>
              <a:t>SQL Query: </a:t>
            </a:r>
            <a:r>
              <a:rPr lang="en-US" dirty="0"/>
              <a:t>Write a query to select and format the data.</a:t>
            </a:r>
          </a:p>
          <a:p>
            <a:r>
              <a:rPr lang="en-US" b="1" dirty="0"/>
              <a:t>Data Export: </a:t>
            </a:r>
            <a:r>
              <a:rPr lang="en-US" dirty="0"/>
              <a:t>Use pandas to export the query results to an Excel file.</a:t>
            </a:r>
          </a:p>
          <a:p>
            <a:r>
              <a:rPr lang="en-US" b="1" dirty="0"/>
              <a:t>Formatting: </a:t>
            </a:r>
            <a:r>
              <a:rPr lang="en-US" dirty="0"/>
              <a:t>Apply borders and adjust column widths using </a:t>
            </a:r>
            <a:r>
              <a:rPr lang="en-US" dirty="0" err="1"/>
              <a:t>openpyxl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28" name="Picture 4" descr="SQL Server Management Studio. In this article we are going to know… | by  Rohit Patil | Medium">
            <a:extLst>
              <a:ext uri="{FF2B5EF4-FFF2-40B4-BE49-F238E27FC236}">
                <a16:creationId xmlns:a16="http://schemas.microsoft.com/office/drawing/2014/main" id="{CC58AFD2-848E-86EA-0A95-ACBBB58F2EC7}"/>
              </a:ext>
            </a:extLst>
          </p:cNvPr>
          <p:cNvPicPr>
            <a:picLocks noGrp="1" noChangeAspect="1" noChangeArrowheads="1"/>
          </p:cNvPicPr>
          <p:nvPr>
            <p:ph type="pic" sz="quarter" idx="3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6" r="957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en-US" noProof="0" dirty="0"/>
              <a:t>EXPORTED </a:t>
            </a:r>
            <a:br>
              <a:rPr lang="en-US" noProof="0" dirty="0"/>
            </a:br>
            <a:r>
              <a:rPr lang="en-US" noProof="0" dirty="0"/>
              <a:t>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/>
          <a:p>
            <a:r>
              <a:rPr lang="en-US" dirty="0"/>
              <a:t>The exported content is an Excel file named UserQueryResults.xlsx. It contains user access information from a SQL Server database. The data includes the following model.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67588EB3-ED1D-6AD3-5960-55BD64293774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3442114908"/>
              </p:ext>
            </p:extLst>
          </p:nvPr>
        </p:nvGraphicFramePr>
        <p:xfrm>
          <a:off x="5067300" y="404813"/>
          <a:ext cx="6705602" cy="60494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51487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651819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925896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PIN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SECONDARY ID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ACCESS GROUP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ACCOUNT STATUS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User001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User001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/>
                          <a:ea typeface="+mn-ea"/>
                          <a:cs typeface="+mn-cs"/>
                        </a:rPr>
                        <a:t>ACTIVE</a:t>
                      </a:r>
                      <a:endParaRPr lang="en-US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User002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Admin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/>
                          <a:ea typeface="+mn-ea"/>
                          <a:cs typeface="+mn-cs"/>
                        </a:rPr>
                        <a:t>ACTIVE</a:t>
                      </a:r>
                      <a:endParaRPr lang="en-US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User003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Martin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Auditor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/>
                          <a:ea typeface="+mn-ea"/>
                          <a:cs typeface="+mn-cs"/>
                        </a:rPr>
                        <a:t>ACTIVE</a:t>
                      </a:r>
                      <a:endParaRPr lang="en-US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User004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User004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/>
                          <a:ea typeface="+mn-ea"/>
                          <a:cs typeface="+mn-cs"/>
                        </a:rPr>
                        <a:t>ACTIVE</a:t>
                      </a:r>
                      <a:endParaRPr lang="en-US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648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User005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Laura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ova"/>
                          <a:ea typeface="+mn-ea"/>
                          <a:cs typeface="+mn-cs"/>
                        </a:rPr>
                        <a:t>ACTIVE</a:t>
                      </a:r>
                      <a:endParaRPr lang="en-US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Benefits of THIS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Efficiency: </a:t>
            </a:r>
            <a:r>
              <a:rPr lang="en-US" dirty="0"/>
              <a:t>Automates repetitive tasks, saving time.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Accuracy: </a:t>
            </a:r>
            <a:r>
              <a:rPr lang="en-US" dirty="0"/>
              <a:t>Reduces the risk of human error in data handling.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Consistency: </a:t>
            </a:r>
            <a:r>
              <a:rPr lang="en-US" dirty="0"/>
              <a:t>Ensures data is consistently formatted every time.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Readability: </a:t>
            </a:r>
            <a:r>
              <a:rPr lang="en-US" dirty="0"/>
              <a:t>Improves the presentation of data in Excel.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Scalability: </a:t>
            </a:r>
            <a:r>
              <a:rPr lang="en-US" dirty="0"/>
              <a:t>Easily handles large datasets and can grow with your needs.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6109724" cy="2752725"/>
          </a:xfrm>
        </p:spPr>
        <p:txBody>
          <a:bodyPr/>
          <a:lstStyle/>
          <a:p>
            <a:r>
              <a:rPr lang="en-US" dirty="0"/>
              <a:t>Automation is not about replacing people - it’s about empowering them to do more meaningful work.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9354D6-4455-B0EC-5C16-9802B0C2607E}"/>
              </a:ext>
            </a:extLst>
          </p:cNvPr>
          <p:cNvSpPr txBox="1"/>
          <p:nvPr/>
        </p:nvSpPr>
        <p:spPr>
          <a:xfrm>
            <a:off x="0" y="6382038"/>
            <a:ext cx="2544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yuvarajramasamy1234@gmail.com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E5EF3-F8EE-B092-D4D1-3B53DF7530D7}"/>
              </a:ext>
            </a:extLst>
          </p:cNvPr>
          <p:cNvSpPr txBox="1"/>
          <p:nvPr/>
        </p:nvSpPr>
        <p:spPr>
          <a:xfrm>
            <a:off x="10343741" y="3246164"/>
            <a:ext cx="22491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Yuvaraj Ramasamy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AE868E-B879-A52A-306D-02551730D6D7}"/>
              </a:ext>
            </a:extLst>
          </p:cNvPr>
          <p:cNvCxnSpPr>
            <a:cxnSpLocks/>
          </p:cNvCxnSpPr>
          <p:nvPr/>
        </p:nvCxnSpPr>
        <p:spPr>
          <a:xfrm flipV="1">
            <a:off x="9497962" y="3418507"/>
            <a:ext cx="757289" cy="17867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D1D838-207F-676E-1BE0-1F0DA17C6CCB}"/>
              </a:ext>
            </a:extLst>
          </p:cNvPr>
          <p:cNvCxnSpPr>
            <a:cxnSpLocks/>
          </p:cNvCxnSpPr>
          <p:nvPr/>
        </p:nvCxnSpPr>
        <p:spPr>
          <a:xfrm flipH="1" flipV="1">
            <a:off x="12176227" y="4031226"/>
            <a:ext cx="15773" cy="207460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2A098C-F8ED-C2F9-34A9-C5AA3D052375}"/>
              </a:ext>
            </a:extLst>
          </p:cNvPr>
          <p:cNvCxnSpPr>
            <a:cxnSpLocks/>
          </p:cNvCxnSpPr>
          <p:nvPr/>
        </p:nvCxnSpPr>
        <p:spPr>
          <a:xfrm>
            <a:off x="12176227" y="1616668"/>
            <a:ext cx="15773" cy="1521542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  <p:transition spd="med">
    <p:fade/>
    <p:sndAc>
      <p:stSnd>
        <p:snd r:embed="rId3" name="type.wav"/>
      </p:stSnd>
    </p:sndAc>
  </p:transition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{2535222B-2476-4EEA-9958-21A09A0722B9}tf11936837_win32</Template>
  <TotalTime>137</TotalTime>
  <Words>384</Words>
  <Application>Microsoft Office PowerPoint</Application>
  <PresentationFormat>Widescreen</PresentationFormat>
  <Paragraphs>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Nova</vt:lpstr>
      <vt:lpstr>Biome</vt:lpstr>
      <vt:lpstr>Calibri</vt:lpstr>
      <vt:lpstr>Wingdings</vt:lpstr>
      <vt:lpstr>Custom</vt:lpstr>
      <vt:lpstr>SSMS</vt:lpstr>
      <vt:lpstr>Agenda</vt:lpstr>
      <vt:lpstr>MAIN Concerns of</vt:lpstr>
      <vt:lpstr>Problem Statement</vt:lpstr>
      <vt:lpstr>Solution Overview</vt:lpstr>
      <vt:lpstr>Solution Overview</vt:lpstr>
      <vt:lpstr>What did we do! </vt:lpstr>
      <vt:lpstr>Code Explanation</vt:lpstr>
      <vt:lpstr>Detailed Code</vt:lpstr>
      <vt:lpstr>Code Insights</vt:lpstr>
      <vt:lpstr>EXPORTED  DATA</vt:lpstr>
      <vt:lpstr>Benefits of THIS AUTOMATION</vt:lpstr>
      <vt:lpstr>THANK YOU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R, Yuvaraj (Cognizant)</dc:creator>
  <cp:lastModifiedBy>R, Yuvaraj (Cognizant)</cp:lastModifiedBy>
  <cp:revision>2</cp:revision>
  <dcterms:created xsi:type="dcterms:W3CDTF">2024-09-14T08:43:21Z</dcterms:created>
  <dcterms:modified xsi:type="dcterms:W3CDTF">2026-02-27T20:20:24Z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